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8288000" cy="10287000"/>
  <p:notesSz cx="6858000" cy="9144000"/>
  <p:embeddedFontLst>
    <p:embeddedFont>
      <p:font typeface="Hatton Semi-Bold" pitchFamily="2" charset="77"/>
      <p:regular r:id="rId37"/>
      <p:bold r:id="rId38"/>
    </p:embeddedFont>
    <p:embeddedFont>
      <p:font typeface="Open Sans Light" panose="020B0306030504020204" pitchFamily="34" charset="0"/>
      <p:regular r:id="rId39"/>
      <p:italic r:id="rId40"/>
    </p:embeddedFont>
    <p:embeddedFont>
      <p:font typeface="Open Sauce" pitchFamily="2" charset="77"/>
      <p:regular r:id="rId41"/>
    </p:embeddedFont>
    <p:embeddedFont>
      <p:font typeface="Open Sauce Bold" pitchFamily="2" charset="77"/>
      <p:regular r:id="rId42"/>
      <p:bold r:id="rId43"/>
    </p:embeddedFont>
    <p:embeddedFont>
      <p:font typeface="Open Sauce Heavy" pitchFamily="2" charset="77"/>
      <p:regular r:id="rId44"/>
      <p:bold r:id="rId45"/>
    </p:embeddedFont>
    <p:embeddedFont>
      <p:font typeface="Open Sauce Light" pitchFamily="2" charset="77"/>
      <p:regular r:id="rId46"/>
    </p:embeddedFont>
    <p:embeddedFont>
      <p:font typeface="Open Sauce Semi-Bold" pitchFamily="2" charset="77"/>
      <p:regular r:id="rId47"/>
      <p:bold r:id="rId48"/>
    </p:embeddedFont>
    <p:embeddedFont>
      <p:font typeface="Poppins Bold" panose="02000000000000000000" pitchFamily="2" charset="77"/>
      <p:regular r:id="rId49"/>
      <p:bold r:id="rId50"/>
    </p:embeddedFont>
    <p:embeddedFont>
      <p:font typeface="Poppins Medium" panose="020B0604020202020204" pitchFamily="34" charset="0"/>
      <p:regular r:id="rId51"/>
      <p:italic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95" autoAdjust="0"/>
  </p:normalViewPr>
  <p:slideViewPr>
    <p:cSldViewPr>
      <p:cViewPr varScale="1">
        <p:scale>
          <a:sx n="68" d="100"/>
          <a:sy n="68" d="100"/>
        </p:scale>
        <p:origin x="90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31961" y="2081277"/>
            <a:ext cx="10566903" cy="6844783"/>
            <a:chOff x="0" y="0"/>
            <a:chExt cx="14089204" cy="9126377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4089204" cy="6605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700"/>
                </a:lnSpc>
              </a:pPr>
              <a:r>
                <a:rPr lang="en-US" sz="7000" b="1">
                  <a:solidFill>
                    <a:srgbClr val="FFFFFF"/>
                  </a:solidFill>
                  <a:latin typeface="Hatton Semi-Bold"/>
                  <a:ea typeface="Hatton Semi-Bold"/>
                  <a:cs typeface="Hatton Semi-Bold"/>
                  <a:sym typeface="Hatton Semi-Bold"/>
                </a:rPr>
                <a:t>Analyzing Book Features and Ratings Using Decision Tree, SVM, and Neural Networks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7182854"/>
              <a:ext cx="14089204" cy="19435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LAZEA Andreea-Elena</a:t>
              </a:r>
            </a:p>
            <a:p>
              <a:pPr algn="ctr">
                <a:lnSpc>
                  <a:spcPts val="3919"/>
                </a:lnSpc>
              </a:pPr>
              <a:endParaRPr lang="en-US" sz="27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endParaRPr lang="en-US" sz="27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549944" y="851851"/>
            <a:ext cx="273093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400" spc="2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RESEARCH PAPER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915412" y="8687935"/>
            <a:ext cx="570365" cy="570365"/>
            <a:chOff x="0" y="0"/>
            <a:chExt cx="760487" cy="760487"/>
          </a:xfrm>
        </p:grpSpPr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9689" y="204087"/>
              <a:ext cx="541109" cy="362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974117" y="849630"/>
            <a:ext cx="570365" cy="570365"/>
            <a:chOff x="0" y="0"/>
            <a:chExt cx="760487" cy="760487"/>
          </a:xfrm>
        </p:grpSpPr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02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9435830" y="1009245"/>
            <a:ext cx="7098030" cy="8229600"/>
          </a:xfrm>
          <a:custGeom>
            <a:avLst/>
            <a:gdLst/>
            <a:ahLst/>
            <a:cxnLst/>
            <a:rect l="l" t="t" r="r" b="b"/>
            <a:pathLst>
              <a:path w="7098030" h="8229600">
                <a:moveTo>
                  <a:pt x="0" y="0"/>
                </a:moveTo>
                <a:lnTo>
                  <a:pt x="7098030" y="0"/>
                </a:lnTo>
                <a:lnTo>
                  <a:pt x="70980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TextBox 9"/>
          <p:cNvSpPr txBox="1"/>
          <p:nvPr/>
        </p:nvSpPr>
        <p:spPr>
          <a:xfrm>
            <a:off x="1028700" y="2096647"/>
            <a:ext cx="4914900" cy="10370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29"/>
              </a:lnSpc>
              <a:spcBef>
                <a:spcPct val="0"/>
              </a:spcBef>
            </a:pPr>
            <a:r>
              <a:rPr lang="en-US" sz="7208" b="1" dirty="0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Abstract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5105400"/>
            <a:ext cx="8012189" cy="1760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This study investigates the application of three different machine learning methods, Decision Trees, Support Vector Machines(SVM) and Neural Networks, on a book dataset, in order to uncover relationshios between book features and their respective ratings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21055"/>
            <a:ext cx="2849623" cy="231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28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94931" y="4106180"/>
            <a:ext cx="9098138" cy="2074640"/>
            <a:chOff x="0" y="0"/>
            <a:chExt cx="12130851" cy="2766186"/>
          </a:xfrm>
        </p:grpSpPr>
        <p:sp>
          <p:nvSpPr>
            <p:cNvPr id="5" name="TextBox 5"/>
            <p:cNvSpPr txBox="1"/>
            <p:nvPr/>
          </p:nvSpPr>
          <p:spPr>
            <a:xfrm>
              <a:off x="0" y="95250"/>
              <a:ext cx="12130851" cy="16721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680"/>
                </a:lnSpc>
              </a:pPr>
              <a:r>
                <a:rPr lang="en-US" sz="8799">
                  <a:solidFill>
                    <a:srgbClr val="FF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</a:t>
              </a:r>
              <a:r>
                <a:rPr lang="en-US" sz="8799" b="1">
                  <a:solidFill>
                    <a:srgbClr val="FF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roduction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70531"/>
              <a:ext cx="12130851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sz="3600" spc="900">
                  <a:solidFill>
                    <a:srgbClr val="FF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PART 1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0643C1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03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0000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979127" y="4702946"/>
            <a:ext cx="4697350" cy="1418620"/>
            <a:chOff x="0" y="0"/>
            <a:chExt cx="6263133" cy="1891493"/>
          </a:xfrm>
        </p:grpSpPr>
        <p:sp>
          <p:nvSpPr>
            <p:cNvPr id="5" name="TextBox 5"/>
            <p:cNvSpPr txBox="1"/>
            <p:nvPr/>
          </p:nvSpPr>
          <p:spPr>
            <a:xfrm>
              <a:off x="0" y="497033"/>
              <a:ext cx="6263133" cy="1394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 b="1">
                  <a:solidFill>
                    <a:srgbClr val="0643C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Evaluate Decision Trees, SVM, and Neural Networks on book rating data</a:t>
              </a:r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0" y="0"/>
              <a:ext cx="902711" cy="317419"/>
              <a:chOff x="0" y="0"/>
              <a:chExt cx="1220777" cy="42926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-5080"/>
                <a:ext cx="1220777" cy="434340"/>
              </a:xfrm>
              <a:custGeom>
                <a:avLst/>
                <a:gdLst/>
                <a:ahLst/>
                <a:cxnLst/>
                <a:rect l="l" t="t" r="r" b="b"/>
                <a:pathLst>
                  <a:path w="1220777" h="434340">
                    <a:moveTo>
                      <a:pt x="1202997" y="187960"/>
                    </a:moveTo>
                    <a:lnTo>
                      <a:pt x="941377" y="11430"/>
                    </a:lnTo>
                    <a:cubicBezTo>
                      <a:pt x="923597" y="0"/>
                      <a:pt x="900737" y="3810"/>
                      <a:pt x="888037" y="21590"/>
                    </a:cubicBezTo>
                    <a:cubicBezTo>
                      <a:pt x="876607" y="39370"/>
                      <a:pt x="880417" y="62230"/>
                      <a:pt x="898197" y="74930"/>
                    </a:cubicBezTo>
                    <a:lnTo>
                      <a:pt x="1056947" y="181610"/>
                    </a:lnTo>
                    <a:lnTo>
                      <a:pt x="0" y="181610"/>
                    </a:lnTo>
                    <a:lnTo>
                      <a:pt x="0" y="257810"/>
                    </a:lnTo>
                    <a:lnTo>
                      <a:pt x="1056947" y="257810"/>
                    </a:lnTo>
                    <a:lnTo>
                      <a:pt x="898197" y="364490"/>
                    </a:lnTo>
                    <a:cubicBezTo>
                      <a:pt x="880417" y="375920"/>
                      <a:pt x="876607" y="400050"/>
                      <a:pt x="888038" y="417830"/>
                    </a:cubicBezTo>
                    <a:cubicBezTo>
                      <a:pt x="895657" y="429260"/>
                      <a:pt x="907088" y="434340"/>
                      <a:pt x="919788" y="434340"/>
                    </a:cubicBezTo>
                    <a:cubicBezTo>
                      <a:pt x="927407" y="434340"/>
                      <a:pt x="935027" y="431800"/>
                      <a:pt x="941377" y="427990"/>
                    </a:cubicBezTo>
                    <a:lnTo>
                      <a:pt x="1204267" y="251460"/>
                    </a:lnTo>
                    <a:cubicBezTo>
                      <a:pt x="1214427" y="243840"/>
                      <a:pt x="1220777" y="232410"/>
                      <a:pt x="1220777" y="219710"/>
                    </a:cubicBezTo>
                    <a:cubicBezTo>
                      <a:pt x="1220777" y="207010"/>
                      <a:pt x="1214427" y="195580"/>
                      <a:pt x="1202997" y="18796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7163539" y="4702946"/>
            <a:ext cx="677033" cy="238064"/>
            <a:chOff x="0" y="0"/>
            <a:chExt cx="1220777" cy="429260"/>
          </a:xfrm>
        </p:grpSpPr>
        <p:sp>
          <p:nvSpPr>
            <p:cNvPr id="9" name="Freeform 9"/>
            <p:cNvSpPr/>
            <p:nvPr/>
          </p:nvSpPr>
          <p:spPr>
            <a:xfrm>
              <a:off x="0" y="-5080"/>
              <a:ext cx="1220777" cy="434340"/>
            </a:xfrm>
            <a:custGeom>
              <a:avLst/>
              <a:gdLst/>
              <a:ahLst/>
              <a:cxnLst/>
              <a:rect l="l" t="t" r="r" b="b"/>
              <a:pathLst>
                <a:path w="1220777" h="434340">
                  <a:moveTo>
                    <a:pt x="1202997" y="187960"/>
                  </a:moveTo>
                  <a:lnTo>
                    <a:pt x="941377" y="11430"/>
                  </a:lnTo>
                  <a:cubicBezTo>
                    <a:pt x="923597" y="0"/>
                    <a:pt x="900737" y="3810"/>
                    <a:pt x="888037" y="21590"/>
                  </a:cubicBezTo>
                  <a:cubicBezTo>
                    <a:pt x="876607" y="39370"/>
                    <a:pt x="880417" y="62230"/>
                    <a:pt x="898197" y="74930"/>
                  </a:cubicBezTo>
                  <a:lnTo>
                    <a:pt x="1056947" y="181610"/>
                  </a:lnTo>
                  <a:lnTo>
                    <a:pt x="0" y="181610"/>
                  </a:lnTo>
                  <a:lnTo>
                    <a:pt x="0" y="257810"/>
                  </a:lnTo>
                  <a:lnTo>
                    <a:pt x="1056947" y="257810"/>
                  </a:lnTo>
                  <a:lnTo>
                    <a:pt x="898197" y="364490"/>
                  </a:lnTo>
                  <a:cubicBezTo>
                    <a:pt x="880417" y="375920"/>
                    <a:pt x="876607" y="400050"/>
                    <a:pt x="888038" y="417830"/>
                  </a:cubicBezTo>
                  <a:cubicBezTo>
                    <a:pt x="895657" y="429260"/>
                    <a:pt x="907088" y="434340"/>
                    <a:pt x="919788" y="434340"/>
                  </a:cubicBezTo>
                  <a:cubicBezTo>
                    <a:pt x="927407" y="434340"/>
                    <a:pt x="935027" y="431800"/>
                    <a:pt x="941377" y="427990"/>
                  </a:cubicBezTo>
                  <a:lnTo>
                    <a:pt x="1204267" y="251460"/>
                  </a:lnTo>
                  <a:cubicBezTo>
                    <a:pt x="1214427" y="243840"/>
                    <a:pt x="1220777" y="232410"/>
                    <a:pt x="1220777" y="219710"/>
                  </a:cubicBezTo>
                  <a:cubicBezTo>
                    <a:pt x="1220777" y="207010"/>
                    <a:pt x="1214427" y="195580"/>
                    <a:pt x="1202997" y="187960"/>
                  </a:cubicBez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332869" y="4702946"/>
            <a:ext cx="677033" cy="238064"/>
            <a:chOff x="0" y="0"/>
            <a:chExt cx="1220777" cy="429260"/>
          </a:xfrm>
        </p:grpSpPr>
        <p:sp>
          <p:nvSpPr>
            <p:cNvPr id="11" name="Freeform 11"/>
            <p:cNvSpPr/>
            <p:nvPr/>
          </p:nvSpPr>
          <p:spPr>
            <a:xfrm>
              <a:off x="0" y="-5080"/>
              <a:ext cx="1220777" cy="434340"/>
            </a:xfrm>
            <a:custGeom>
              <a:avLst/>
              <a:gdLst/>
              <a:ahLst/>
              <a:cxnLst/>
              <a:rect l="l" t="t" r="r" b="b"/>
              <a:pathLst>
                <a:path w="1220777" h="434340">
                  <a:moveTo>
                    <a:pt x="1202997" y="187960"/>
                  </a:moveTo>
                  <a:lnTo>
                    <a:pt x="941377" y="11430"/>
                  </a:lnTo>
                  <a:cubicBezTo>
                    <a:pt x="923597" y="0"/>
                    <a:pt x="900737" y="3810"/>
                    <a:pt x="888037" y="21590"/>
                  </a:cubicBezTo>
                  <a:cubicBezTo>
                    <a:pt x="876607" y="39370"/>
                    <a:pt x="880417" y="62230"/>
                    <a:pt x="898197" y="74930"/>
                  </a:cubicBezTo>
                  <a:lnTo>
                    <a:pt x="1056947" y="181610"/>
                  </a:lnTo>
                  <a:lnTo>
                    <a:pt x="0" y="181610"/>
                  </a:lnTo>
                  <a:lnTo>
                    <a:pt x="0" y="257810"/>
                  </a:lnTo>
                  <a:lnTo>
                    <a:pt x="1056947" y="257810"/>
                  </a:lnTo>
                  <a:lnTo>
                    <a:pt x="898197" y="364490"/>
                  </a:lnTo>
                  <a:cubicBezTo>
                    <a:pt x="880417" y="375920"/>
                    <a:pt x="876607" y="400050"/>
                    <a:pt x="888038" y="417830"/>
                  </a:cubicBezTo>
                  <a:cubicBezTo>
                    <a:pt x="895657" y="429260"/>
                    <a:pt x="907088" y="434340"/>
                    <a:pt x="919788" y="434340"/>
                  </a:cubicBezTo>
                  <a:cubicBezTo>
                    <a:pt x="927407" y="434340"/>
                    <a:pt x="935027" y="431800"/>
                    <a:pt x="941377" y="427990"/>
                  </a:cubicBezTo>
                  <a:lnTo>
                    <a:pt x="1204267" y="251460"/>
                  </a:lnTo>
                  <a:cubicBezTo>
                    <a:pt x="1214427" y="243840"/>
                    <a:pt x="1220777" y="232410"/>
                    <a:pt x="1220777" y="219710"/>
                  </a:cubicBezTo>
                  <a:cubicBezTo>
                    <a:pt x="1220777" y="207010"/>
                    <a:pt x="1214427" y="195580"/>
                    <a:pt x="1202997" y="187960"/>
                  </a:cubicBez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979127" y="1694259"/>
            <a:ext cx="7533086" cy="1771325"/>
            <a:chOff x="0" y="0"/>
            <a:chExt cx="10044115" cy="2361766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10044115" cy="1631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00"/>
                </a:lnSpc>
              </a:pPr>
              <a:r>
                <a:rPr lang="en-US" sz="8000" b="1">
                  <a:solidFill>
                    <a:srgbClr val="0643C1"/>
                  </a:solidFill>
                  <a:latin typeface="Hatton Semi-Bold"/>
                  <a:ea typeface="Hatton Semi-Bold"/>
                  <a:cs typeface="Hatton Semi-Bold"/>
                  <a:sym typeface="Hatton Semi-Bold"/>
                </a:rPr>
                <a:t>Objectives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836621"/>
              <a:ext cx="10044115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spc="360">
                  <a:solidFill>
                    <a:srgbClr val="FF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WHAT I WANT TO ACHIEVE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0643C1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17" name="Group 17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04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63539" y="4702946"/>
            <a:ext cx="4697350" cy="1418620"/>
            <a:chOff x="0" y="0"/>
            <a:chExt cx="6263133" cy="1891493"/>
          </a:xfrm>
        </p:grpSpPr>
        <p:sp>
          <p:nvSpPr>
            <p:cNvPr id="21" name="TextBox 21"/>
            <p:cNvSpPr txBox="1"/>
            <p:nvPr/>
          </p:nvSpPr>
          <p:spPr>
            <a:xfrm>
              <a:off x="0" y="497033"/>
              <a:ext cx="6263133" cy="1394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 b="1">
                  <a:solidFill>
                    <a:srgbClr val="0643C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Compare performance, interpretability, and computational efficiency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0" y="0"/>
              <a:ext cx="902711" cy="317419"/>
              <a:chOff x="0" y="0"/>
              <a:chExt cx="1220777" cy="42926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-5080"/>
                <a:ext cx="1220777" cy="434340"/>
              </a:xfrm>
              <a:custGeom>
                <a:avLst/>
                <a:gdLst/>
                <a:ahLst/>
                <a:cxnLst/>
                <a:rect l="l" t="t" r="r" b="b"/>
                <a:pathLst>
                  <a:path w="1220777" h="434340">
                    <a:moveTo>
                      <a:pt x="1202997" y="187960"/>
                    </a:moveTo>
                    <a:lnTo>
                      <a:pt x="941377" y="11430"/>
                    </a:lnTo>
                    <a:cubicBezTo>
                      <a:pt x="923597" y="0"/>
                      <a:pt x="900737" y="3810"/>
                      <a:pt x="888037" y="21590"/>
                    </a:cubicBezTo>
                    <a:cubicBezTo>
                      <a:pt x="876607" y="39370"/>
                      <a:pt x="880417" y="62230"/>
                      <a:pt x="898197" y="74930"/>
                    </a:cubicBezTo>
                    <a:lnTo>
                      <a:pt x="1056947" y="181610"/>
                    </a:lnTo>
                    <a:lnTo>
                      <a:pt x="0" y="181610"/>
                    </a:lnTo>
                    <a:lnTo>
                      <a:pt x="0" y="257810"/>
                    </a:lnTo>
                    <a:lnTo>
                      <a:pt x="1056947" y="257810"/>
                    </a:lnTo>
                    <a:lnTo>
                      <a:pt x="898197" y="364490"/>
                    </a:lnTo>
                    <a:cubicBezTo>
                      <a:pt x="880417" y="375920"/>
                      <a:pt x="876607" y="400050"/>
                      <a:pt x="888038" y="417830"/>
                    </a:cubicBezTo>
                    <a:cubicBezTo>
                      <a:pt x="895657" y="429260"/>
                      <a:pt x="907088" y="434340"/>
                      <a:pt x="919788" y="434340"/>
                    </a:cubicBezTo>
                    <a:cubicBezTo>
                      <a:pt x="927407" y="434340"/>
                      <a:pt x="935027" y="431800"/>
                      <a:pt x="941377" y="427990"/>
                    </a:cubicBezTo>
                    <a:lnTo>
                      <a:pt x="1204267" y="251460"/>
                    </a:lnTo>
                    <a:cubicBezTo>
                      <a:pt x="1214427" y="243840"/>
                      <a:pt x="1220777" y="232410"/>
                      <a:pt x="1220777" y="219710"/>
                    </a:cubicBezTo>
                    <a:cubicBezTo>
                      <a:pt x="1220777" y="207010"/>
                      <a:pt x="1214427" y="195580"/>
                      <a:pt x="1202997" y="18796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12346663" y="4702946"/>
            <a:ext cx="4697350" cy="1066195"/>
            <a:chOff x="0" y="0"/>
            <a:chExt cx="6263133" cy="1421593"/>
          </a:xfrm>
        </p:grpSpPr>
        <p:sp>
          <p:nvSpPr>
            <p:cNvPr id="25" name="TextBox 25"/>
            <p:cNvSpPr txBox="1"/>
            <p:nvPr/>
          </p:nvSpPr>
          <p:spPr>
            <a:xfrm>
              <a:off x="0" y="497033"/>
              <a:ext cx="6263133" cy="92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 b="1">
                  <a:solidFill>
                    <a:srgbClr val="0643C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Identify actionable insights for book rating prediction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0" y="0"/>
              <a:ext cx="902711" cy="317419"/>
              <a:chOff x="0" y="0"/>
              <a:chExt cx="1220777" cy="42926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-5080"/>
                <a:ext cx="1220777" cy="434340"/>
              </a:xfrm>
              <a:custGeom>
                <a:avLst/>
                <a:gdLst/>
                <a:ahLst/>
                <a:cxnLst/>
                <a:rect l="l" t="t" r="r" b="b"/>
                <a:pathLst>
                  <a:path w="1220777" h="434340">
                    <a:moveTo>
                      <a:pt x="1202997" y="187960"/>
                    </a:moveTo>
                    <a:lnTo>
                      <a:pt x="941377" y="11430"/>
                    </a:lnTo>
                    <a:cubicBezTo>
                      <a:pt x="923597" y="0"/>
                      <a:pt x="900737" y="3810"/>
                      <a:pt x="888037" y="21590"/>
                    </a:cubicBezTo>
                    <a:cubicBezTo>
                      <a:pt x="876607" y="39370"/>
                      <a:pt x="880417" y="62230"/>
                      <a:pt x="898197" y="74930"/>
                    </a:cubicBezTo>
                    <a:lnTo>
                      <a:pt x="1056947" y="181610"/>
                    </a:lnTo>
                    <a:lnTo>
                      <a:pt x="0" y="181610"/>
                    </a:lnTo>
                    <a:lnTo>
                      <a:pt x="0" y="257810"/>
                    </a:lnTo>
                    <a:lnTo>
                      <a:pt x="1056947" y="257810"/>
                    </a:lnTo>
                    <a:lnTo>
                      <a:pt x="898197" y="364490"/>
                    </a:lnTo>
                    <a:cubicBezTo>
                      <a:pt x="880417" y="375920"/>
                      <a:pt x="876607" y="400050"/>
                      <a:pt x="888038" y="417830"/>
                    </a:cubicBezTo>
                    <a:cubicBezTo>
                      <a:pt x="895657" y="429260"/>
                      <a:pt x="907088" y="434340"/>
                      <a:pt x="919788" y="434340"/>
                    </a:cubicBezTo>
                    <a:cubicBezTo>
                      <a:pt x="927407" y="434340"/>
                      <a:pt x="935027" y="431800"/>
                      <a:pt x="941377" y="427990"/>
                    </a:cubicBezTo>
                    <a:lnTo>
                      <a:pt x="1204267" y="251460"/>
                    </a:lnTo>
                    <a:cubicBezTo>
                      <a:pt x="1214427" y="243840"/>
                      <a:pt x="1220777" y="232410"/>
                      <a:pt x="1220777" y="219710"/>
                    </a:cubicBezTo>
                    <a:cubicBezTo>
                      <a:pt x="1220777" y="207010"/>
                      <a:pt x="1214427" y="195580"/>
                      <a:pt x="1202997" y="18796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28" name="TextBox 28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0000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974117" y="849630"/>
            <a:ext cx="570365" cy="570365"/>
            <a:chOff x="0" y="0"/>
            <a:chExt cx="760487" cy="760487"/>
          </a:xfrm>
        </p:grpSpPr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05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810347" y="4772225"/>
            <a:ext cx="8646497" cy="2777687"/>
          </a:xfrm>
          <a:custGeom>
            <a:avLst/>
            <a:gdLst/>
            <a:ahLst/>
            <a:cxnLst/>
            <a:rect l="l" t="t" r="r" b="b"/>
            <a:pathLst>
              <a:path w="8646497" h="2777687">
                <a:moveTo>
                  <a:pt x="0" y="0"/>
                </a:moveTo>
                <a:lnTo>
                  <a:pt x="8646497" y="0"/>
                </a:lnTo>
                <a:lnTo>
                  <a:pt x="8646497" y="2777688"/>
                </a:lnTo>
                <a:lnTo>
                  <a:pt x="0" y="2777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Freeform 9"/>
          <p:cNvSpPr/>
          <p:nvPr/>
        </p:nvSpPr>
        <p:spPr>
          <a:xfrm>
            <a:off x="9456844" y="4772225"/>
            <a:ext cx="7936249" cy="2777687"/>
          </a:xfrm>
          <a:custGeom>
            <a:avLst/>
            <a:gdLst/>
            <a:ahLst/>
            <a:cxnLst/>
            <a:rect l="l" t="t" r="r" b="b"/>
            <a:pathLst>
              <a:path w="7936249" h="2777687">
                <a:moveTo>
                  <a:pt x="0" y="0"/>
                </a:moveTo>
                <a:lnTo>
                  <a:pt x="7936249" y="0"/>
                </a:lnTo>
                <a:lnTo>
                  <a:pt x="7936249" y="2777688"/>
                </a:lnTo>
                <a:lnTo>
                  <a:pt x="0" y="2777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10" name="TextBox 10"/>
          <p:cNvSpPr txBox="1"/>
          <p:nvPr/>
        </p:nvSpPr>
        <p:spPr>
          <a:xfrm>
            <a:off x="6097501" y="1862672"/>
            <a:ext cx="6718685" cy="2339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Dataset 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21055"/>
            <a:ext cx="284962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28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56321" y="8073788"/>
            <a:ext cx="4364236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SIZE: OVER 11,000 BOOKS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577719" y="3929334"/>
            <a:ext cx="11132563" cy="2051040"/>
            <a:chOff x="0" y="0"/>
            <a:chExt cx="14843417" cy="2734720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4843417" cy="1631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800"/>
                </a:lnSpc>
              </a:pPr>
              <a:r>
                <a:rPr lang="en-US" sz="8000" b="1">
                  <a:solidFill>
                    <a:srgbClr val="FF0000"/>
                  </a:solidFill>
                  <a:latin typeface="Hatton Semi-Bold"/>
                  <a:ea typeface="Hatton Semi-Bold"/>
                  <a:cs typeface="Hatton Semi-Bold"/>
                  <a:sym typeface="Hatton Semi-Bold"/>
                </a:rPr>
                <a:t>Methodology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39065"/>
              <a:ext cx="14843417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sz="3600" b="1" spc="900">
                  <a:solidFill>
                    <a:srgbClr val="FF0000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PART 2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0643C1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06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0000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4" name="AutoShape 4"/>
          <p:cNvSpPr/>
          <p:nvPr/>
        </p:nvSpPr>
        <p:spPr>
          <a:xfrm>
            <a:off x="149493" y="4833787"/>
            <a:ext cx="18516600" cy="9525"/>
          </a:xfrm>
          <a:prstGeom prst="rect">
            <a:avLst/>
          </a:prstGeom>
          <a:solidFill>
            <a:srgbClr val="FF0000"/>
          </a:solidFill>
        </p:spPr>
        <p:txBody>
          <a:bodyPr/>
          <a:lstStyle/>
          <a:p>
            <a:endParaRPr lang="en-RO"/>
          </a:p>
        </p:txBody>
      </p:sp>
      <p:grpSp>
        <p:nvGrpSpPr>
          <p:cNvPr id="5" name="Group 5"/>
          <p:cNvGrpSpPr/>
          <p:nvPr/>
        </p:nvGrpSpPr>
        <p:grpSpPr>
          <a:xfrm>
            <a:off x="1882639" y="4746222"/>
            <a:ext cx="194180" cy="19418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958893" y="4736697"/>
            <a:ext cx="194180" cy="194180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014785" y="4746222"/>
            <a:ext cx="194180" cy="194180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12" name="Group 12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07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3757164" y="7250806"/>
            <a:ext cx="11301259" cy="1652809"/>
          </a:xfrm>
          <a:custGeom>
            <a:avLst/>
            <a:gdLst/>
            <a:ahLst/>
            <a:cxnLst/>
            <a:rect l="l" t="t" r="r" b="b"/>
            <a:pathLst>
              <a:path w="11301259" h="1652809">
                <a:moveTo>
                  <a:pt x="0" y="0"/>
                </a:moveTo>
                <a:lnTo>
                  <a:pt x="11301259" y="0"/>
                </a:lnTo>
                <a:lnTo>
                  <a:pt x="11301259" y="1652809"/>
                </a:lnTo>
                <a:lnTo>
                  <a:pt x="0" y="16528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16" name="TextBox 16"/>
          <p:cNvSpPr txBox="1"/>
          <p:nvPr/>
        </p:nvSpPr>
        <p:spPr>
          <a:xfrm>
            <a:off x="1028700" y="2520930"/>
            <a:ext cx="10614615" cy="109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7199" b="1">
                <a:solidFill>
                  <a:srgbClr val="FF0000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Data Preprocessing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5283" y="5319831"/>
            <a:ext cx="3183021" cy="137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4"/>
              </a:lnSpc>
              <a:spcBef>
                <a:spcPct val="0"/>
              </a:spcBef>
            </a:pPr>
            <a:r>
              <a:rPr lang="en-US" sz="2653" b="1" spc="132">
                <a:solidFill>
                  <a:srgbClr val="0643C1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HANDLED MISSING VALUES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05254" y="5312086"/>
            <a:ext cx="4176478" cy="138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8"/>
              </a:lnSpc>
              <a:spcBef>
                <a:spcPct val="0"/>
              </a:spcBef>
            </a:pPr>
            <a:r>
              <a:rPr lang="en-US" sz="2684" b="1" spc="134">
                <a:solidFill>
                  <a:srgbClr val="0643C1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NORMALIZED NUMERICAL ATTRIBUTES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232315" y="5331561"/>
            <a:ext cx="4176478" cy="138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8"/>
              </a:lnSpc>
              <a:spcBef>
                <a:spcPct val="0"/>
              </a:spcBef>
            </a:pPr>
            <a:r>
              <a:rPr lang="en-US" sz="2684" b="1" spc="134">
                <a:solidFill>
                  <a:srgbClr val="0643C1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SPLIT DATA INTO TRAINING 80% AND TESTING 20%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675111" y="5834511"/>
            <a:ext cx="3733682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0643C1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0000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040942" y="2423199"/>
            <a:ext cx="10385620" cy="110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  <a:spcBef>
                <a:spcPct val="0"/>
              </a:spcBef>
            </a:pPr>
            <a:r>
              <a:rPr lang="en-US" sz="7200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Methods Used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79127" y="6285731"/>
            <a:ext cx="4007235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Rule-based classification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33752" y="6285731"/>
            <a:ext cx="3988653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Linear kernel for classification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364748" y="6273082"/>
            <a:ext cx="4036048" cy="702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Regression with non-linear relationships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979127" y="5433034"/>
            <a:ext cx="3248748" cy="561734"/>
            <a:chOff x="0" y="0"/>
            <a:chExt cx="4331664" cy="748979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4331664" cy="748979"/>
              <a:chOff x="0" y="0"/>
              <a:chExt cx="1317085" cy="22773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317085" cy="227734"/>
              </a:xfrm>
              <a:custGeom>
                <a:avLst/>
                <a:gdLst/>
                <a:ahLst/>
                <a:cxnLst/>
                <a:rect l="l" t="t" r="r" b="b"/>
                <a:pathLst>
                  <a:path w="1317085" h="227734">
                    <a:moveTo>
                      <a:pt x="0" y="0"/>
                    </a:moveTo>
                    <a:lnTo>
                      <a:pt x="1317085" y="0"/>
                    </a:lnTo>
                    <a:lnTo>
                      <a:pt x="1317085" y="227734"/>
                    </a:lnTo>
                    <a:lnTo>
                      <a:pt x="0" y="227734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285219" y="114774"/>
              <a:ext cx="3761226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spc="105">
                  <a:solidFill>
                    <a:srgbClr val="FFFFFF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DECISION TREES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33752" y="5433034"/>
            <a:ext cx="3248748" cy="561734"/>
            <a:chOff x="0" y="0"/>
            <a:chExt cx="4331664" cy="748979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4331664" cy="748979"/>
              <a:chOff x="0" y="0"/>
              <a:chExt cx="1317085" cy="22773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317085" cy="227734"/>
              </a:xfrm>
              <a:custGeom>
                <a:avLst/>
                <a:gdLst/>
                <a:ahLst/>
                <a:cxnLst/>
                <a:rect l="l" t="t" r="r" b="b"/>
                <a:pathLst>
                  <a:path w="1317085" h="227734">
                    <a:moveTo>
                      <a:pt x="0" y="0"/>
                    </a:moveTo>
                    <a:lnTo>
                      <a:pt x="1317085" y="0"/>
                    </a:lnTo>
                    <a:lnTo>
                      <a:pt x="1317085" y="227734"/>
                    </a:lnTo>
                    <a:lnTo>
                      <a:pt x="0" y="227734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285219" y="114774"/>
              <a:ext cx="3761226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spc="105">
                  <a:solidFill>
                    <a:srgbClr val="FFFFFF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SVM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364748" y="5433034"/>
            <a:ext cx="3248748" cy="561734"/>
            <a:chOff x="0" y="0"/>
            <a:chExt cx="4331664" cy="748979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4331664" cy="748979"/>
              <a:chOff x="0" y="0"/>
              <a:chExt cx="1317085" cy="22773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317085" cy="227734"/>
              </a:xfrm>
              <a:custGeom>
                <a:avLst/>
                <a:gdLst/>
                <a:ahLst/>
                <a:cxnLst/>
                <a:rect l="l" t="t" r="r" b="b"/>
                <a:pathLst>
                  <a:path w="1317085" h="227734">
                    <a:moveTo>
                      <a:pt x="0" y="0"/>
                    </a:moveTo>
                    <a:lnTo>
                      <a:pt x="1317085" y="0"/>
                    </a:lnTo>
                    <a:lnTo>
                      <a:pt x="1317085" y="227734"/>
                    </a:lnTo>
                    <a:lnTo>
                      <a:pt x="0" y="227734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285219" y="114774"/>
              <a:ext cx="3761226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spc="105">
                  <a:solidFill>
                    <a:srgbClr val="FFFFFF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NEURAL NETWORK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74117" y="849630"/>
            <a:ext cx="570365" cy="570365"/>
            <a:chOff x="0" y="0"/>
            <a:chExt cx="760487" cy="760487"/>
          </a:xfrm>
        </p:grpSpPr>
        <p:grpSp>
          <p:nvGrpSpPr>
            <p:cNvPr id="21" name="Group 21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08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28700" y="821055"/>
            <a:ext cx="284962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28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178052" y="4103089"/>
            <a:ext cx="9931896" cy="2018699"/>
            <a:chOff x="0" y="0"/>
            <a:chExt cx="13242528" cy="2691598"/>
          </a:xfrm>
        </p:grpSpPr>
        <p:sp>
          <p:nvSpPr>
            <p:cNvPr id="5" name="TextBox 5"/>
            <p:cNvSpPr txBox="1"/>
            <p:nvPr/>
          </p:nvSpPr>
          <p:spPr>
            <a:xfrm>
              <a:off x="0" y="0"/>
              <a:ext cx="13242528" cy="1767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680"/>
                </a:lnSpc>
              </a:pPr>
              <a:r>
                <a:rPr lang="en-US" sz="8800" b="1">
                  <a:solidFill>
                    <a:srgbClr val="FF0000"/>
                  </a:solidFill>
                  <a:latin typeface="Hatton Semi-Bold"/>
                  <a:ea typeface="Hatton Semi-Bold"/>
                  <a:cs typeface="Hatton Semi-Bold"/>
                  <a:sym typeface="Hatton Semi-Bold"/>
                </a:rPr>
                <a:t>Decision Trees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895943"/>
              <a:ext cx="13242528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sz="3600" b="1" spc="900">
                  <a:solidFill>
                    <a:srgbClr val="FF0000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PART 3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0643C1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09689" y="204087"/>
              <a:ext cx="541109" cy="362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09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0643C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3897737"/>
            <a:ext cx="9648535" cy="3254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21"/>
              </a:lnSpc>
              <a:spcBef>
                <a:spcPct val="0"/>
              </a:spcBef>
            </a:pPr>
            <a:r>
              <a:rPr lang="en-US" sz="11201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Decision Trees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345053" y="1403485"/>
            <a:ext cx="6472995" cy="1886801"/>
            <a:chOff x="0" y="0"/>
            <a:chExt cx="8630660" cy="2515735"/>
          </a:xfrm>
        </p:grpSpPr>
        <p:sp>
          <p:nvSpPr>
            <p:cNvPr id="6" name="TextBox 6"/>
            <p:cNvSpPr txBox="1"/>
            <p:nvPr/>
          </p:nvSpPr>
          <p:spPr>
            <a:xfrm>
              <a:off x="624534" y="651375"/>
              <a:ext cx="8006126" cy="18643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ratings_count</a:t>
              </a:r>
            </a:p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text_reviews_count,</a:t>
              </a:r>
            </a:p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year,</a:t>
              </a:r>
            </a:p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num_pages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24534" y="-47625"/>
              <a:ext cx="5733961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FFFFF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KEY FEATURES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82637"/>
              <a:ext cx="258907" cy="258907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9345053" y="4129870"/>
            <a:ext cx="6472995" cy="1181951"/>
            <a:chOff x="0" y="0"/>
            <a:chExt cx="8630660" cy="1575935"/>
          </a:xfrm>
        </p:grpSpPr>
        <p:sp>
          <p:nvSpPr>
            <p:cNvPr id="11" name="TextBox 11"/>
            <p:cNvSpPr txBox="1"/>
            <p:nvPr/>
          </p:nvSpPr>
          <p:spPr>
            <a:xfrm>
              <a:off x="624534" y="651375"/>
              <a:ext cx="8006126" cy="92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Accuracy: 59.2%</a:t>
              </a:r>
            </a:p>
            <a:p>
              <a:pPr algn="l">
                <a:lnSpc>
                  <a:spcPts val="2835"/>
                </a:lnSpc>
              </a:pPr>
              <a:endPara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4534" y="-47625"/>
              <a:ext cx="5733961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FFFFF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RESULTS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82637"/>
              <a:ext cx="258907" cy="258907"/>
              <a:chOff x="0" y="0"/>
              <a:chExt cx="6350000" cy="6350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9877278" y="7113886"/>
            <a:ext cx="6822782" cy="1594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1"/>
              </a:lnSpc>
            </a:pPr>
            <a:r>
              <a:rPr lang="en-US" sz="238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Strengths: High interpretability</a:t>
            </a:r>
          </a:p>
          <a:p>
            <a:pPr algn="l">
              <a:lnSpc>
                <a:spcPts val="3221"/>
              </a:lnSpc>
            </a:pPr>
            <a:r>
              <a:rPr lang="en-US" sz="238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Limitations: Susceptible to overfitting, struggles with overlapping data</a:t>
            </a:r>
          </a:p>
          <a:p>
            <a:pPr algn="l">
              <a:lnSpc>
                <a:spcPts val="3221"/>
              </a:lnSpc>
            </a:pPr>
            <a:endParaRPr lang="en-US" sz="2386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877278" y="6094256"/>
            <a:ext cx="4886454" cy="940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7"/>
              </a:lnSpc>
              <a:spcBef>
                <a:spcPct val="0"/>
              </a:spcBef>
            </a:pPr>
            <a:r>
              <a:rPr lang="en-US" sz="2727" b="1" spc="136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LIMITATIONS AND STRENGTHS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345053" y="6221828"/>
            <a:ext cx="220639" cy="220639"/>
            <a:chOff x="0" y="0"/>
            <a:chExt cx="6350000" cy="6350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10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28700" y="804545"/>
            <a:ext cx="284962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28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11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4452218"/>
            <a:ext cx="18288000" cy="2537460"/>
          </a:xfrm>
          <a:custGeom>
            <a:avLst/>
            <a:gdLst/>
            <a:ahLst/>
            <a:cxnLst/>
            <a:rect l="l" t="t" r="r" b="b"/>
            <a:pathLst>
              <a:path w="18288000" h="2537460">
                <a:moveTo>
                  <a:pt x="0" y="0"/>
                </a:moveTo>
                <a:lnTo>
                  <a:pt x="18288000" y="0"/>
                </a:lnTo>
                <a:lnTo>
                  <a:pt x="18288000" y="2537460"/>
                </a:lnTo>
                <a:lnTo>
                  <a:pt x="0" y="2537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TextBox 9"/>
          <p:cNvSpPr txBox="1"/>
          <p:nvPr/>
        </p:nvSpPr>
        <p:spPr>
          <a:xfrm>
            <a:off x="5442043" y="1611081"/>
            <a:ext cx="8038249" cy="226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sz="7800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Decision Tree Structure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12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3867381" y="2724055"/>
            <a:ext cx="10553237" cy="6331942"/>
          </a:xfrm>
          <a:custGeom>
            <a:avLst/>
            <a:gdLst/>
            <a:ahLst/>
            <a:cxnLst/>
            <a:rect l="l" t="t" r="r" b="b"/>
            <a:pathLst>
              <a:path w="10553237" h="6331942">
                <a:moveTo>
                  <a:pt x="0" y="0"/>
                </a:moveTo>
                <a:lnTo>
                  <a:pt x="10553238" y="0"/>
                </a:lnTo>
                <a:lnTo>
                  <a:pt x="10553238" y="6331942"/>
                </a:lnTo>
                <a:lnTo>
                  <a:pt x="0" y="6331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TextBox 9"/>
          <p:cNvSpPr txBox="1"/>
          <p:nvPr/>
        </p:nvSpPr>
        <p:spPr>
          <a:xfrm>
            <a:off x="5473939" y="462817"/>
            <a:ext cx="8038249" cy="226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sz="7800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Correlation Heatmap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13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3097367" y="3315973"/>
            <a:ext cx="11301259" cy="5650629"/>
          </a:xfrm>
          <a:custGeom>
            <a:avLst/>
            <a:gdLst/>
            <a:ahLst/>
            <a:cxnLst/>
            <a:rect l="l" t="t" r="r" b="b"/>
            <a:pathLst>
              <a:path w="11301259" h="5650629">
                <a:moveTo>
                  <a:pt x="0" y="0"/>
                </a:moveTo>
                <a:lnTo>
                  <a:pt x="11301259" y="0"/>
                </a:lnTo>
                <a:lnTo>
                  <a:pt x="11301259" y="5650629"/>
                </a:lnTo>
                <a:lnTo>
                  <a:pt x="0" y="5650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TextBox 9"/>
          <p:cNvSpPr txBox="1"/>
          <p:nvPr/>
        </p:nvSpPr>
        <p:spPr>
          <a:xfrm>
            <a:off x="1374570" y="1054735"/>
            <a:ext cx="15538860" cy="226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sz="7800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Time Series of Average Ratings Over Years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14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5041497" y="1860252"/>
            <a:ext cx="7835015" cy="7835015"/>
          </a:xfrm>
          <a:custGeom>
            <a:avLst/>
            <a:gdLst/>
            <a:ahLst/>
            <a:cxnLst/>
            <a:rect l="l" t="t" r="r" b="b"/>
            <a:pathLst>
              <a:path w="7835015" h="7835015">
                <a:moveTo>
                  <a:pt x="0" y="0"/>
                </a:moveTo>
                <a:lnTo>
                  <a:pt x="7835015" y="0"/>
                </a:lnTo>
                <a:lnTo>
                  <a:pt x="7835015" y="7835016"/>
                </a:lnTo>
                <a:lnTo>
                  <a:pt x="0" y="78350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TextBox 9"/>
          <p:cNvSpPr txBox="1"/>
          <p:nvPr/>
        </p:nvSpPr>
        <p:spPr>
          <a:xfrm>
            <a:off x="1374570" y="842645"/>
            <a:ext cx="15538860" cy="1175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sz="7800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Scater Plot Matrix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15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9499992" y="2010210"/>
            <a:ext cx="6684352" cy="6266580"/>
          </a:xfrm>
          <a:custGeom>
            <a:avLst/>
            <a:gdLst/>
            <a:ahLst/>
            <a:cxnLst/>
            <a:rect l="l" t="t" r="r" b="b"/>
            <a:pathLst>
              <a:path w="6684352" h="6266580">
                <a:moveTo>
                  <a:pt x="0" y="0"/>
                </a:moveTo>
                <a:lnTo>
                  <a:pt x="6684351" y="0"/>
                </a:lnTo>
                <a:lnTo>
                  <a:pt x="6684351" y="6266580"/>
                </a:lnTo>
                <a:lnTo>
                  <a:pt x="0" y="6266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TextBox 9"/>
          <p:cNvSpPr txBox="1"/>
          <p:nvPr/>
        </p:nvSpPr>
        <p:spPr>
          <a:xfrm>
            <a:off x="741634" y="3474719"/>
            <a:ext cx="8038249" cy="3347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sz="7800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Pair Plot for Attribute Interactions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16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3786816" y="3640328"/>
            <a:ext cx="10714368" cy="5357184"/>
          </a:xfrm>
          <a:custGeom>
            <a:avLst/>
            <a:gdLst/>
            <a:ahLst/>
            <a:cxnLst/>
            <a:rect l="l" t="t" r="r" b="b"/>
            <a:pathLst>
              <a:path w="10714368" h="5357184">
                <a:moveTo>
                  <a:pt x="0" y="0"/>
                </a:moveTo>
                <a:lnTo>
                  <a:pt x="10714368" y="0"/>
                </a:lnTo>
                <a:lnTo>
                  <a:pt x="10714368" y="5357184"/>
                </a:lnTo>
                <a:lnTo>
                  <a:pt x="0" y="5357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TextBox 9"/>
          <p:cNvSpPr txBox="1"/>
          <p:nvPr/>
        </p:nvSpPr>
        <p:spPr>
          <a:xfrm>
            <a:off x="4759045" y="1127828"/>
            <a:ext cx="8038249" cy="226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sz="7800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Distribution of Ratings Count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17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3493371" y="3351014"/>
            <a:ext cx="11301259" cy="5650629"/>
          </a:xfrm>
          <a:custGeom>
            <a:avLst/>
            <a:gdLst/>
            <a:ahLst/>
            <a:cxnLst/>
            <a:rect l="l" t="t" r="r" b="b"/>
            <a:pathLst>
              <a:path w="11301259" h="5650629">
                <a:moveTo>
                  <a:pt x="0" y="0"/>
                </a:moveTo>
                <a:lnTo>
                  <a:pt x="11301258" y="0"/>
                </a:lnTo>
                <a:lnTo>
                  <a:pt x="11301258" y="5650630"/>
                </a:lnTo>
                <a:lnTo>
                  <a:pt x="0" y="56506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TextBox 9"/>
          <p:cNvSpPr txBox="1"/>
          <p:nvPr/>
        </p:nvSpPr>
        <p:spPr>
          <a:xfrm>
            <a:off x="3941280" y="842645"/>
            <a:ext cx="9760645" cy="226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sz="7800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Distribution of Number of Pages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18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3720691" y="3544589"/>
            <a:ext cx="9506976" cy="5704186"/>
          </a:xfrm>
          <a:custGeom>
            <a:avLst/>
            <a:gdLst/>
            <a:ahLst/>
            <a:cxnLst/>
            <a:rect l="l" t="t" r="r" b="b"/>
            <a:pathLst>
              <a:path w="9506976" h="5704186">
                <a:moveTo>
                  <a:pt x="0" y="0"/>
                </a:moveTo>
                <a:lnTo>
                  <a:pt x="9506976" y="0"/>
                </a:lnTo>
                <a:lnTo>
                  <a:pt x="9506976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TextBox 9"/>
          <p:cNvSpPr txBox="1"/>
          <p:nvPr/>
        </p:nvSpPr>
        <p:spPr>
          <a:xfrm>
            <a:off x="1028700" y="1054735"/>
            <a:ext cx="15538860" cy="226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sz="7800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Density Plot of Average Ratings vs Low Ratings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178052" y="4103089"/>
            <a:ext cx="9931896" cy="2018699"/>
            <a:chOff x="0" y="0"/>
            <a:chExt cx="13242528" cy="2691598"/>
          </a:xfrm>
        </p:grpSpPr>
        <p:sp>
          <p:nvSpPr>
            <p:cNvPr id="5" name="TextBox 5"/>
            <p:cNvSpPr txBox="1"/>
            <p:nvPr/>
          </p:nvSpPr>
          <p:spPr>
            <a:xfrm>
              <a:off x="0" y="0"/>
              <a:ext cx="13242528" cy="1767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680"/>
                </a:lnSpc>
              </a:pPr>
              <a:r>
                <a:rPr lang="en-US" sz="8800" b="1">
                  <a:solidFill>
                    <a:srgbClr val="FF0000"/>
                  </a:solidFill>
                  <a:latin typeface="Hatton Semi-Bold"/>
                  <a:ea typeface="Hatton Semi-Bold"/>
                  <a:cs typeface="Hatton Semi-Bold"/>
                  <a:sym typeface="Hatton Semi-Bold"/>
                </a:rPr>
                <a:t>Neural Network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895943"/>
              <a:ext cx="13242528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sz="3600" b="1" spc="900">
                  <a:solidFill>
                    <a:srgbClr val="FF0000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PART 4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0643C1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19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0643C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3381463"/>
            <a:ext cx="10540788" cy="3555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61"/>
              </a:lnSpc>
            </a:pPr>
            <a:r>
              <a:rPr lang="en-US" sz="12237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Neural</a:t>
            </a:r>
          </a:p>
          <a:p>
            <a:pPr algn="l">
              <a:lnSpc>
                <a:spcPts val="13461"/>
              </a:lnSpc>
              <a:spcBef>
                <a:spcPct val="0"/>
              </a:spcBef>
            </a:pPr>
            <a:r>
              <a:rPr lang="en-US" sz="12237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Network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616548" y="1491085"/>
            <a:ext cx="6472995" cy="1181951"/>
            <a:chOff x="0" y="0"/>
            <a:chExt cx="8630660" cy="1575935"/>
          </a:xfrm>
        </p:grpSpPr>
        <p:sp>
          <p:nvSpPr>
            <p:cNvPr id="6" name="TextBox 6"/>
            <p:cNvSpPr txBox="1"/>
            <p:nvPr/>
          </p:nvSpPr>
          <p:spPr>
            <a:xfrm>
              <a:off x="624534" y="651375"/>
              <a:ext cx="8006126" cy="92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Regression analysis for predicting average_rating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24534" y="-47625"/>
              <a:ext cx="5733961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FFFFF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APPROACH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82637"/>
              <a:ext cx="258907" cy="258907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8616548" y="4217470"/>
            <a:ext cx="6472995" cy="1181951"/>
            <a:chOff x="0" y="0"/>
            <a:chExt cx="8630660" cy="1575935"/>
          </a:xfrm>
        </p:grpSpPr>
        <p:sp>
          <p:nvSpPr>
            <p:cNvPr id="11" name="TextBox 11"/>
            <p:cNvSpPr txBox="1"/>
            <p:nvPr/>
          </p:nvSpPr>
          <p:spPr>
            <a:xfrm>
              <a:off x="624534" y="651375"/>
              <a:ext cx="8006126" cy="92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MAE:  0.23</a:t>
              </a:r>
            </a:p>
            <a:p>
              <a:pPr algn="l">
                <a:lnSpc>
                  <a:spcPts val="2835"/>
                </a:lnSpc>
              </a:pPr>
              <a:endPara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4534" y="-47625"/>
              <a:ext cx="5733961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FFFFF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RESULTS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82637"/>
              <a:ext cx="258907" cy="258907"/>
              <a:chOff x="0" y="0"/>
              <a:chExt cx="6350000" cy="6350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9148773" y="7201485"/>
            <a:ext cx="6822782" cy="1994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1"/>
              </a:lnSpc>
            </a:pPr>
            <a:r>
              <a:rPr lang="en-US" sz="238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Strengths: Handles non-linear relationships, high accuracy</a:t>
            </a:r>
          </a:p>
          <a:p>
            <a:pPr algn="l">
              <a:lnSpc>
                <a:spcPts val="3221"/>
              </a:lnSpc>
            </a:pPr>
            <a:r>
              <a:rPr lang="en-US" sz="238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Limitations: Computationally intensive, less interpretable</a:t>
            </a:r>
          </a:p>
          <a:p>
            <a:pPr algn="l">
              <a:lnSpc>
                <a:spcPts val="3221"/>
              </a:lnSpc>
            </a:pPr>
            <a:endParaRPr lang="en-US" sz="2386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148773" y="6181855"/>
            <a:ext cx="4886454" cy="940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7"/>
              </a:lnSpc>
              <a:spcBef>
                <a:spcPct val="0"/>
              </a:spcBef>
            </a:pPr>
            <a:r>
              <a:rPr lang="en-US" sz="2727" b="1" spc="136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LIMITATIONS AND STRENGTHS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616548" y="7129266"/>
            <a:ext cx="220639" cy="220639"/>
            <a:chOff x="0" y="0"/>
            <a:chExt cx="6350000" cy="6350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20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28700" y="804545"/>
            <a:ext cx="284962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28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21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4390512" y="3288028"/>
            <a:ext cx="9506976" cy="5704186"/>
          </a:xfrm>
          <a:custGeom>
            <a:avLst/>
            <a:gdLst/>
            <a:ahLst/>
            <a:cxnLst/>
            <a:rect l="l" t="t" r="r" b="b"/>
            <a:pathLst>
              <a:path w="9506976" h="5704186">
                <a:moveTo>
                  <a:pt x="0" y="0"/>
                </a:moveTo>
                <a:lnTo>
                  <a:pt x="9506976" y="0"/>
                </a:lnTo>
                <a:lnTo>
                  <a:pt x="9506976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TextBox 9"/>
          <p:cNvSpPr txBox="1"/>
          <p:nvPr/>
        </p:nvSpPr>
        <p:spPr>
          <a:xfrm>
            <a:off x="3941280" y="842645"/>
            <a:ext cx="9760645" cy="226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sz="7800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Training validation loss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22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3493371" y="3351014"/>
            <a:ext cx="11301259" cy="5650629"/>
          </a:xfrm>
          <a:custGeom>
            <a:avLst/>
            <a:gdLst/>
            <a:ahLst/>
            <a:cxnLst/>
            <a:rect l="l" t="t" r="r" b="b"/>
            <a:pathLst>
              <a:path w="11301259" h="5650629">
                <a:moveTo>
                  <a:pt x="0" y="0"/>
                </a:moveTo>
                <a:lnTo>
                  <a:pt x="11301258" y="0"/>
                </a:lnTo>
                <a:lnTo>
                  <a:pt x="11301258" y="5650630"/>
                </a:lnTo>
                <a:lnTo>
                  <a:pt x="0" y="56506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TextBox 9"/>
          <p:cNvSpPr txBox="1"/>
          <p:nvPr/>
        </p:nvSpPr>
        <p:spPr>
          <a:xfrm>
            <a:off x="3941280" y="842645"/>
            <a:ext cx="9760645" cy="226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sz="7800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Residuals vs Predicted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23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4211721" y="3188366"/>
            <a:ext cx="9770787" cy="5862472"/>
          </a:xfrm>
          <a:custGeom>
            <a:avLst/>
            <a:gdLst/>
            <a:ahLst/>
            <a:cxnLst/>
            <a:rect l="l" t="t" r="r" b="b"/>
            <a:pathLst>
              <a:path w="9770787" h="5862472">
                <a:moveTo>
                  <a:pt x="0" y="0"/>
                </a:moveTo>
                <a:lnTo>
                  <a:pt x="9770787" y="0"/>
                </a:lnTo>
                <a:lnTo>
                  <a:pt x="9770787" y="5862473"/>
                </a:lnTo>
                <a:lnTo>
                  <a:pt x="0" y="58624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TextBox 9"/>
          <p:cNvSpPr txBox="1"/>
          <p:nvPr/>
        </p:nvSpPr>
        <p:spPr>
          <a:xfrm>
            <a:off x="4016026" y="820554"/>
            <a:ext cx="9760645" cy="1175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sz="7800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Residuals Distribution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24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3493371" y="3351014"/>
            <a:ext cx="11301259" cy="5650629"/>
          </a:xfrm>
          <a:custGeom>
            <a:avLst/>
            <a:gdLst/>
            <a:ahLst/>
            <a:cxnLst/>
            <a:rect l="l" t="t" r="r" b="b"/>
            <a:pathLst>
              <a:path w="11301259" h="5650629">
                <a:moveTo>
                  <a:pt x="0" y="0"/>
                </a:moveTo>
                <a:lnTo>
                  <a:pt x="11301258" y="0"/>
                </a:lnTo>
                <a:lnTo>
                  <a:pt x="11301258" y="5650630"/>
                </a:lnTo>
                <a:lnTo>
                  <a:pt x="0" y="56506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TextBox 9"/>
          <p:cNvSpPr txBox="1"/>
          <p:nvPr/>
        </p:nvSpPr>
        <p:spPr>
          <a:xfrm>
            <a:off x="4263677" y="842645"/>
            <a:ext cx="9760645" cy="226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sz="7800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Q-Q Plot Residuals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983642" y="833120"/>
            <a:ext cx="570365" cy="570365"/>
            <a:chOff x="0" y="0"/>
            <a:chExt cx="760487" cy="760487"/>
          </a:xfrm>
        </p:grpSpPr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25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3493371" y="3103883"/>
            <a:ext cx="11301259" cy="5650629"/>
          </a:xfrm>
          <a:custGeom>
            <a:avLst/>
            <a:gdLst/>
            <a:ahLst/>
            <a:cxnLst/>
            <a:rect l="l" t="t" r="r" b="b"/>
            <a:pathLst>
              <a:path w="11301259" h="5650629">
                <a:moveTo>
                  <a:pt x="0" y="0"/>
                </a:moveTo>
                <a:lnTo>
                  <a:pt x="11301258" y="0"/>
                </a:lnTo>
                <a:lnTo>
                  <a:pt x="11301258" y="5650629"/>
                </a:lnTo>
                <a:lnTo>
                  <a:pt x="0" y="5650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TextBox 9"/>
          <p:cNvSpPr txBox="1"/>
          <p:nvPr/>
        </p:nvSpPr>
        <p:spPr>
          <a:xfrm>
            <a:off x="4263677" y="842645"/>
            <a:ext cx="9760645" cy="226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sz="7800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Density Plot Residuals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26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4263677" y="3103883"/>
            <a:ext cx="10177497" cy="6106498"/>
          </a:xfrm>
          <a:custGeom>
            <a:avLst/>
            <a:gdLst/>
            <a:ahLst/>
            <a:cxnLst/>
            <a:rect l="l" t="t" r="r" b="b"/>
            <a:pathLst>
              <a:path w="10177497" h="6106498">
                <a:moveTo>
                  <a:pt x="0" y="0"/>
                </a:moveTo>
                <a:lnTo>
                  <a:pt x="10177497" y="0"/>
                </a:lnTo>
                <a:lnTo>
                  <a:pt x="10177497" y="6106498"/>
                </a:lnTo>
                <a:lnTo>
                  <a:pt x="0" y="6106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TextBox 9"/>
          <p:cNvSpPr txBox="1"/>
          <p:nvPr/>
        </p:nvSpPr>
        <p:spPr>
          <a:xfrm>
            <a:off x="4263677" y="842645"/>
            <a:ext cx="9760645" cy="226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sz="7800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Actual vs Predicted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178052" y="3496191"/>
            <a:ext cx="9931896" cy="3232493"/>
            <a:chOff x="0" y="0"/>
            <a:chExt cx="13242528" cy="4309991"/>
          </a:xfrm>
        </p:grpSpPr>
        <p:sp>
          <p:nvSpPr>
            <p:cNvPr id="5" name="TextBox 5"/>
            <p:cNvSpPr txBox="1"/>
            <p:nvPr/>
          </p:nvSpPr>
          <p:spPr>
            <a:xfrm>
              <a:off x="0" y="0"/>
              <a:ext cx="13242528" cy="33857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680"/>
                </a:lnSpc>
              </a:pPr>
              <a:r>
                <a:rPr lang="en-US" sz="8800" b="1">
                  <a:solidFill>
                    <a:srgbClr val="FF0000"/>
                  </a:solidFill>
                  <a:latin typeface="Hatton Semi-Bold"/>
                  <a:ea typeface="Hatton Semi-Bold"/>
                  <a:cs typeface="Hatton Semi-Bold"/>
                  <a:sym typeface="Hatton Semi-Bold"/>
                </a:rPr>
                <a:t>Support Vector Machines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14336"/>
              <a:ext cx="13242528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sz="3600" b="1" spc="900">
                  <a:solidFill>
                    <a:srgbClr val="FF0000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PART 5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0643C1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27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0643C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312258" y="4215849"/>
            <a:ext cx="10540788" cy="1855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61"/>
              </a:lnSpc>
              <a:spcBef>
                <a:spcPct val="0"/>
              </a:spcBef>
            </a:pPr>
            <a:r>
              <a:rPr lang="en-US" sz="12237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SVM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616548" y="1491085"/>
            <a:ext cx="6472995" cy="829526"/>
            <a:chOff x="0" y="0"/>
            <a:chExt cx="8630660" cy="1106035"/>
          </a:xfrm>
        </p:grpSpPr>
        <p:sp>
          <p:nvSpPr>
            <p:cNvPr id="6" name="TextBox 6"/>
            <p:cNvSpPr txBox="1"/>
            <p:nvPr/>
          </p:nvSpPr>
          <p:spPr>
            <a:xfrm>
              <a:off x="624534" y="651375"/>
              <a:ext cx="8006126" cy="454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Linear kernel for classification tasks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24534" y="-47625"/>
              <a:ext cx="5733961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FFFFF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APPROACH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82637"/>
              <a:ext cx="258907" cy="258907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8616548" y="4217470"/>
            <a:ext cx="6472995" cy="1181951"/>
            <a:chOff x="0" y="0"/>
            <a:chExt cx="8630660" cy="1575935"/>
          </a:xfrm>
        </p:grpSpPr>
        <p:sp>
          <p:nvSpPr>
            <p:cNvPr id="11" name="TextBox 11"/>
            <p:cNvSpPr txBox="1"/>
            <p:nvPr/>
          </p:nvSpPr>
          <p:spPr>
            <a:xfrm>
              <a:off x="624534" y="651375"/>
              <a:ext cx="8006126" cy="92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Accuracy:  56%</a:t>
              </a:r>
            </a:p>
            <a:p>
              <a:pPr algn="l">
                <a:lnSpc>
                  <a:spcPts val="2835"/>
                </a:lnSpc>
              </a:pPr>
              <a:endPara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4534" y="-47625"/>
              <a:ext cx="5733961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FFFFF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RESULTS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82637"/>
              <a:ext cx="258907" cy="258907"/>
              <a:chOff x="0" y="0"/>
              <a:chExt cx="6350000" cy="6350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9148773" y="7201485"/>
            <a:ext cx="6822782" cy="1594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1"/>
              </a:lnSpc>
            </a:pPr>
            <a:r>
              <a:rPr lang="en-US" sz="238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Strengths: Efficient with small datasets, robust performance</a:t>
            </a:r>
          </a:p>
          <a:p>
            <a:pPr algn="l">
              <a:lnSpc>
                <a:spcPts val="3221"/>
              </a:lnSpc>
            </a:pPr>
            <a:r>
              <a:rPr lang="en-US" sz="238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Limitations: Limited interpretability</a:t>
            </a:r>
          </a:p>
          <a:p>
            <a:pPr algn="l">
              <a:lnSpc>
                <a:spcPts val="3221"/>
              </a:lnSpc>
            </a:pPr>
            <a:endParaRPr lang="en-US" sz="2386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148773" y="6181855"/>
            <a:ext cx="4886454" cy="940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7"/>
              </a:lnSpc>
              <a:spcBef>
                <a:spcPct val="0"/>
              </a:spcBef>
            </a:pPr>
            <a:r>
              <a:rPr lang="en-US" sz="2727" b="1" spc="136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LIMITATIONS AND STRENGTHS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616548" y="7129266"/>
            <a:ext cx="220639" cy="220639"/>
            <a:chOff x="0" y="0"/>
            <a:chExt cx="6350000" cy="6350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28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28700" y="804545"/>
            <a:ext cx="284962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28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29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4211721" y="3103883"/>
            <a:ext cx="9506976" cy="5704186"/>
          </a:xfrm>
          <a:custGeom>
            <a:avLst/>
            <a:gdLst/>
            <a:ahLst/>
            <a:cxnLst/>
            <a:rect l="l" t="t" r="r" b="b"/>
            <a:pathLst>
              <a:path w="9506976" h="5704186">
                <a:moveTo>
                  <a:pt x="0" y="0"/>
                </a:moveTo>
                <a:lnTo>
                  <a:pt x="9506976" y="0"/>
                </a:lnTo>
                <a:lnTo>
                  <a:pt x="9506976" y="5704185"/>
                </a:lnTo>
                <a:lnTo>
                  <a:pt x="0" y="57041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TextBox 9"/>
          <p:cNvSpPr txBox="1"/>
          <p:nvPr/>
        </p:nvSpPr>
        <p:spPr>
          <a:xfrm>
            <a:off x="3941280" y="842645"/>
            <a:ext cx="9760645" cy="226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sz="7800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Distribution of Number of Pages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30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4390512" y="2918070"/>
            <a:ext cx="9506976" cy="5704186"/>
          </a:xfrm>
          <a:custGeom>
            <a:avLst/>
            <a:gdLst/>
            <a:ahLst/>
            <a:cxnLst/>
            <a:rect l="l" t="t" r="r" b="b"/>
            <a:pathLst>
              <a:path w="9506976" h="5704186">
                <a:moveTo>
                  <a:pt x="0" y="0"/>
                </a:moveTo>
                <a:lnTo>
                  <a:pt x="9506976" y="0"/>
                </a:lnTo>
                <a:lnTo>
                  <a:pt x="9506976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TextBox 9"/>
          <p:cNvSpPr txBox="1"/>
          <p:nvPr/>
        </p:nvSpPr>
        <p:spPr>
          <a:xfrm>
            <a:off x="4390512" y="827466"/>
            <a:ext cx="9707590" cy="226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sz="7800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Residual Analysis for SVM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074103" y="4178358"/>
            <a:ext cx="10139795" cy="1930283"/>
            <a:chOff x="0" y="0"/>
            <a:chExt cx="13519726" cy="2573711"/>
          </a:xfrm>
        </p:grpSpPr>
        <p:sp>
          <p:nvSpPr>
            <p:cNvPr id="5" name="TextBox 5"/>
            <p:cNvSpPr txBox="1"/>
            <p:nvPr/>
          </p:nvSpPr>
          <p:spPr>
            <a:xfrm>
              <a:off x="0" y="0"/>
              <a:ext cx="13519726" cy="1621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799"/>
                </a:lnSpc>
              </a:pPr>
              <a:r>
                <a:rPr lang="en-US" sz="7999" b="1">
                  <a:solidFill>
                    <a:srgbClr val="FF0000"/>
                  </a:solidFill>
                  <a:latin typeface="Hatton Semi-Bold"/>
                  <a:ea typeface="Hatton Semi-Bold"/>
                  <a:cs typeface="Hatton Semi-Bold"/>
                  <a:sym typeface="Hatton Semi-Bold"/>
                </a:rPr>
                <a:t>Analysis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78056"/>
              <a:ext cx="13519726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sz="3600" b="1" spc="900">
                  <a:solidFill>
                    <a:srgbClr val="FF0000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PART 6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0643C1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983642" y="833120"/>
            <a:ext cx="570365" cy="570365"/>
            <a:chOff x="0" y="0"/>
            <a:chExt cx="760487" cy="760487"/>
          </a:xfrm>
        </p:grpSpPr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31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0000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4" name="AutoShape 4"/>
          <p:cNvSpPr/>
          <p:nvPr/>
        </p:nvSpPr>
        <p:spPr>
          <a:xfrm rot="5400000">
            <a:off x="3187117" y="5480500"/>
            <a:ext cx="6314176" cy="95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RO"/>
          </a:p>
        </p:txBody>
      </p:sp>
      <p:sp>
        <p:nvSpPr>
          <p:cNvPr id="5" name="AutoShape 5"/>
          <p:cNvSpPr/>
          <p:nvPr/>
        </p:nvSpPr>
        <p:spPr>
          <a:xfrm rot="5400000">
            <a:off x="8807872" y="5480483"/>
            <a:ext cx="6314176" cy="9557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RO"/>
          </a:p>
        </p:txBody>
      </p:sp>
      <p:sp>
        <p:nvSpPr>
          <p:cNvPr id="6" name="TextBox 6"/>
          <p:cNvSpPr txBox="1"/>
          <p:nvPr/>
        </p:nvSpPr>
        <p:spPr>
          <a:xfrm>
            <a:off x="4609775" y="1103259"/>
            <a:ext cx="8792373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69"/>
              </a:lnSpc>
              <a:spcBef>
                <a:spcPct val="0"/>
              </a:spcBef>
            </a:pPr>
            <a:r>
              <a:rPr lang="en-US" sz="5699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Comparative Analysis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974117" y="849630"/>
            <a:ext cx="570365" cy="570365"/>
            <a:chOff x="0" y="0"/>
            <a:chExt cx="760487" cy="760487"/>
          </a:xfrm>
        </p:grpSpPr>
        <p:grpSp>
          <p:nvGrpSpPr>
            <p:cNvPr id="8" name="Group 8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32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821055"/>
            <a:ext cx="284962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28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3974" y="2945737"/>
            <a:ext cx="5263043" cy="718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  <a:spcBef>
                <a:spcPct val="0"/>
              </a:spcBef>
            </a:pPr>
            <a:r>
              <a:rPr lang="en-US" sz="4800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Interpretability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7898" y="3968247"/>
            <a:ext cx="5263043" cy="296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419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DECISION TREES: HIGH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419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NEURAL NETWORKS: MODERATE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419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SVM: LOW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 b="1" spc="419">
              <a:solidFill>
                <a:srgbClr val="FFFFFF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840734" y="2945737"/>
            <a:ext cx="5263043" cy="718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  <a:spcBef>
                <a:spcPct val="0"/>
              </a:spcBef>
            </a:pPr>
            <a:r>
              <a:rPr lang="en-US" sz="4800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Accuracy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74440" y="3968247"/>
            <a:ext cx="5263043" cy="295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419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NEURAL NETWORKS: HIGHEST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419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Decision Trees: Moderate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419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SVM: Lowest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 b="1" spc="419" dirty="0">
              <a:solidFill>
                <a:srgbClr val="FFFFFF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452595" y="2945737"/>
            <a:ext cx="5263043" cy="718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  <a:spcBef>
                <a:spcPct val="0"/>
              </a:spcBef>
            </a:pPr>
            <a:r>
              <a:rPr lang="en-US" sz="4800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Efficiency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52595" y="3968247"/>
            <a:ext cx="5263043" cy="247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419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SVM: MOST EFFICIENT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419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Neural Networks: Least efficient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 b="1" spc="419">
              <a:solidFill>
                <a:srgbClr val="FFFFFF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3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4" name="AutoShape 4"/>
          <p:cNvSpPr/>
          <p:nvPr/>
        </p:nvSpPr>
        <p:spPr>
          <a:xfrm rot="5400000">
            <a:off x="3187117" y="5480500"/>
            <a:ext cx="6314176" cy="95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RO"/>
          </a:p>
        </p:txBody>
      </p:sp>
      <p:sp>
        <p:nvSpPr>
          <p:cNvPr id="5" name="AutoShape 5"/>
          <p:cNvSpPr/>
          <p:nvPr/>
        </p:nvSpPr>
        <p:spPr>
          <a:xfrm rot="5400000">
            <a:off x="8807872" y="5480483"/>
            <a:ext cx="6314176" cy="9557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RO"/>
          </a:p>
        </p:txBody>
      </p:sp>
      <p:sp>
        <p:nvSpPr>
          <p:cNvPr id="6" name="TextBox 6"/>
          <p:cNvSpPr txBox="1"/>
          <p:nvPr/>
        </p:nvSpPr>
        <p:spPr>
          <a:xfrm>
            <a:off x="4609775" y="1103259"/>
            <a:ext cx="8792373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69"/>
              </a:lnSpc>
              <a:spcBef>
                <a:spcPct val="0"/>
              </a:spcBef>
            </a:pPr>
            <a:r>
              <a:rPr lang="en-US" sz="5699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Practical Insights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974117" y="849630"/>
            <a:ext cx="570365" cy="570365"/>
            <a:chOff x="0" y="0"/>
            <a:chExt cx="760487" cy="760487"/>
          </a:xfrm>
        </p:grpSpPr>
        <p:grpSp>
          <p:nvGrpSpPr>
            <p:cNvPr id="8" name="Group 8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33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821055"/>
            <a:ext cx="284962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28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3974" y="2945737"/>
            <a:ext cx="5263043" cy="718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  <a:spcBef>
                <a:spcPct val="0"/>
              </a:spcBef>
            </a:pPr>
            <a:r>
              <a:rPr lang="en-US" sz="4800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Decision trees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7898" y="3968247"/>
            <a:ext cx="5263043" cy="346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419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BEST FOR EXPLAINABLE MODELS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419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Useful in transparent decision-making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 b="1" spc="419">
              <a:solidFill>
                <a:srgbClr val="FFFFFF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840734" y="2945737"/>
            <a:ext cx="5263043" cy="718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  <a:spcBef>
                <a:spcPct val="0"/>
              </a:spcBef>
            </a:pPr>
            <a:r>
              <a:rPr lang="en-US" sz="4800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SVM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74440" y="3968247"/>
            <a:ext cx="5263043" cy="346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419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BALANCES EFFICIENCY AND ACCURACY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419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Effective for moderate datasets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 b="1" spc="419">
              <a:solidFill>
                <a:srgbClr val="FFFFFF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599077" y="2612362"/>
            <a:ext cx="5263043" cy="138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  <a:spcBef>
                <a:spcPct val="0"/>
              </a:spcBef>
            </a:pPr>
            <a:r>
              <a:rPr lang="en-US" sz="4800" b="1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Neural Networks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98389" y="4215897"/>
            <a:ext cx="5263043" cy="296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419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HIGH PRECISION FOR COMPLEX DATA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419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Requires computational resources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 b="1" spc="419">
              <a:solidFill>
                <a:srgbClr val="FFFFFF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074103" y="4178358"/>
            <a:ext cx="10139795" cy="1930283"/>
            <a:chOff x="0" y="0"/>
            <a:chExt cx="13519726" cy="2573711"/>
          </a:xfrm>
        </p:grpSpPr>
        <p:sp>
          <p:nvSpPr>
            <p:cNvPr id="5" name="TextBox 5"/>
            <p:cNvSpPr txBox="1"/>
            <p:nvPr/>
          </p:nvSpPr>
          <p:spPr>
            <a:xfrm>
              <a:off x="0" y="0"/>
              <a:ext cx="13519726" cy="1621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799"/>
                </a:lnSpc>
              </a:pPr>
              <a:r>
                <a:rPr lang="en-US" sz="7999" b="1">
                  <a:solidFill>
                    <a:srgbClr val="FF0000"/>
                  </a:solidFill>
                  <a:latin typeface="Hatton Semi-Bold"/>
                  <a:ea typeface="Hatton Semi-Bold"/>
                  <a:cs typeface="Hatton Semi-Bold"/>
                  <a:sym typeface="Hatton Semi-Bold"/>
                </a:rPr>
                <a:t>Conclusion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78056"/>
              <a:ext cx="13519726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sz="3600" b="1" spc="900">
                  <a:solidFill>
                    <a:srgbClr val="FF0000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PART 7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0643C1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34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0000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72902"/>
            <a:ext cx="898626" cy="103980"/>
            <a:chOff x="0" y="0"/>
            <a:chExt cx="1317085" cy="152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7085" cy="152400"/>
            </a:xfrm>
            <a:custGeom>
              <a:avLst/>
              <a:gdLst/>
              <a:ahLst/>
              <a:cxnLst/>
              <a:rect l="l" t="t" r="r" b="b"/>
              <a:pathLst>
                <a:path w="1317085" h="152400">
                  <a:moveTo>
                    <a:pt x="0" y="0"/>
                  </a:moveTo>
                  <a:lnTo>
                    <a:pt x="1317085" y="0"/>
                  </a:lnTo>
                  <a:lnTo>
                    <a:pt x="131708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78013" y="3655040"/>
            <a:ext cx="7925459" cy="1712700"/>
            <a:chOff x="0" y="0"/>
            <a:chExt cx="10567278" cy="2283600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0567278" cy="1631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00"/>
                </a:lnSpc>
              </a:pPr>
              <a:r>
                <a:rPr lang="en-US" sz="8000" b="1">
                  <a:solidFill>
                    <a:srgbClr val="FF0000"/>
                  </a:solidFill>
                  <a:latin typeface="Hatton Semi-Bold"/>
                  <a:ea typeface="Hatton Semi-Bold"/>
                  <a:cs typeface="Hatton Semi-Bold"/>
                  <a:sym typeface="Hatton Semi-Bold"/>
                </a:rPr>
                <a:t>Conclusion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58455"/>
              <a:ext cx="10418248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spc="360">
                  <a:solidFill>
                    <a:srgbClr val="0643C1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SUMMARY AND RECOMMENTATIONS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777930" y="3363278"/>
            <a:ext cx="5967350" cy="3522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835"/>
              </a:lnSpc>
              <a:buFont typeface="Arial"/>
              <a:buChar char="•"/>
            </a:pPr>
            <a:r>
              <a:rPr lang="en-US" sz="2100" b="1">
                <a:solidFill>
                  <a:srgbClr val="0643C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Summary:</a:t>
            </a:r>
          </a:p>
          <a:p>
            <a:pPr marL="906780" lvl="2" indent="-302260" algn="l">
              <a:lnSpc>
                <a:spcPts val="2835"/>
              </a:lnSpc>
              <a:buFont typeface="Arial"/>
              <a:buChar char="⚬"/>
            </a:pPr>
            <a:r>
              <a:rPr lang="en-US" sz="2100" b="1">
                <a:solidFill>
                  <a:srgbClr val="0643C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Decision Trees: Easy interpretation</a:t>
            </a:r>
          </a:p>
          <a:p>
            <a:pPr marL="906780" lvl="2" indent="-302260" algn="l">
              <a:lnSpc>
                <a:spcPts val="2835"/>
              </a:lnSpc>
              <a:buFont typeface="Arial"/>
              <a:buChar char="⚬"/>
            </a:pPr>
            <a:r>
              <a:rPr lang="en-US" sz="2100" b="1">
                <a:solidFill>
                  <a:srgbClr val="0643C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SVM: Strong accuracy and efficiency</a:t>
            </a:r>
          </a:p>
          <a:p>
            <a:pPr marL="906780" lvl="2" indent="-302260" algn="l">
              <a:lnSpc>
                <a:spcPts val="2835"/>
              </a:lnSpc>
              <a:buFont typeface="Arial"/>
              <a:buChar char="⚬"/>
            </a:pPr>
            <a:r>
              <a:rPr lang="en-US" sz="2100" b="1">
                <a:solidFill>
                  <a:srgbClr val="0643C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Neural Networks: Superior predictive performance</a:t>
            </a:r>
          </a:p>
          <a:p>
            <a:pPr marL="453390" lvl="1" indent="-226695" algn="l">
              <a:lnSpc>
                <a:spcPts val="2835"/>
              </a:lnSpc>
              <a:buFont typeface="Arial"/>
              <a:buChar char="•"/>
            </a:pPr>
            <a:r>
              <a:rPr lang="en-US" sz="2100" b="1">
                <a:solidFill>
                  <a:srgbClr val="0643C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Recommendation:</a:t>
            </a:r>
          </a:p>
          <a:p>
            <a:pPr marL="906780" lvl="2" indent="-302260" algn="l">
              <a:lnSpc>
                <a:spcPts val="2835"/>
              </a:lnSpc>
              <a:buFont typeface="Arial"/>
              <a:buChar char="⚬"/>
            </a:pPr>
            <a:r>
              <a:rPr lang="en-US" sz="2100" b="1">
                <a:solidFill>
                  <a:srgbClr val="0643C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Select model based on the trade-off between accuracy, interpretability, and resources</a:t>
            </a:r>
          </a:p>
          <a:p>
            <a:pPr algn="l">
              <a:lnSpc>
                <a:spcPts val="2835"/>
              </a:lnSpc>
            </a:pPr>
            <a:endParaRPr lang="en-US" sz="2100" b="1">
              <a:solidFill>
                <a:srgbClr val="0643C1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804545"/>
            <a:ext cx="318302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400" spc="140">
                <a:solidFill>
                  <a:srgbClr val="0643C1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RESEARCH PAPER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6974117" y="833120"/>
            <a:ext cx="570365" cy="570365"/>
            <a:chOff x="0" y="0"/>
            <a:chExt cx="760487" cy="760487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760487" cy="760487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RO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109689" y="204087"/>
              <a:ext cx="541109" cy="389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  <a:spcBef>
                  <a:spcPct val="0"/>
                </a:spcBef>
              </a:pPr>
              <a:r>
                <a:rPr lang="en-US" sz="1804">
                  <a:solidFill>
                    <a:srgbClr val="FF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35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398626" y="9220200"/>
            <a:ext cx="314585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400" b="1" spc="280">
                <a:solidFill>
                  <a:srgbClr val="FF0000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LAZEA ANDREEA-ELENA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601</Words>
  <Application>Microsoft Macintosh PowerPoint</Application>
  <PresentationFormat>Custom</PresentationFormat>
  <Paragraphs>214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7" baseType="lpstr">
      <vt:lpstr>Open Sans Light</vt:lpstr>
      <vt:lpstr>Open Sauce</vt:lpstr>
      <vt:lpstr>Open Sauce Light</vt:lpstr>
      <vt:lpstr>Hatton Semi-Bold</vt:lpstr>
      <vt:lpstr>Arial</vt:lpstr>
      <vt:lpstr>Poppins Medium</vt:lpstr>
      <vt:lpstr>Open Sauce Bold</vt:lpstr>
      <vt:lpstr>Open Sauce Heavy</vt:lpstr>
      <vt:lpstr>Poppins Bold</vt:lpstr>
      <vt:lpstr>Calibri</vt:lpstr>
      <vt:lpstr>Open Sauce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Book Features and Ratings Using Decision Tree, SVM, and Neural Networks</dc:title>
  <cp:lastModifiedBy>Lazea Andreea-Elena</cp:lastModifiedBy>
  <cp:revision>4</cp:revision>
  <dcterms:created xsi:type="dcterms:W3CDTF">2006-08-16T00:00:00Z</dcterms:created>
  <dcterms:modified xsi:type="dcterms:W3CDTF">2025-01-08T13:44:10Z</dcterms:modified>
  <dc:identifier>DAGbco_7ksU</dc:identifier>
</cp:coreProperties>
</file>